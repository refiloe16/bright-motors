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0D3B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Mercedes-Benz</c:v>
                  </c:pt>
                  <c:pt idx="6">
                    <c:v>Dodge</c:v>
                  </c:pt>
                  <c:pt idx="7">
                    <c:v>Infiniti</c:v>
                  </c:pt>
                  <c:pt idx="8">
                    <c:v>Honda</c:v>
                  </c:pt>
                  <c:pt idx="9">
                    <c:v>Chrysler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1362.6</c:v>
                </c:pt>
                <c:pt idx="1">
                  <c:v>723.3</c:v>
                </c:pt>
                <c:pt idx="2">
                  <c:v>633.7</c:v>
                </c:pt>
                <c:pt idx="3">
                  <c:v>489.1</c:v>
                </c:pt>
                <c:pt idx="4">
                  <c:v>446.5</c:v>
                </c:pt>
                <c:pt idx="5">
                  <c:v>370.1</c:v>
                </c:pt>
                <c:pt idx="6">
                  <c:v>345.6</c:v>
                </c:pt>
                <c:pt idx="7">
                  <c:v>312.5</c:v>
                </c:pt>
                <c:pt idx="8">
                  <c:v>298.3</c:v>
                </c:pt>
                <c:pt idx="9">
                  <c:v>193.5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rgbClr val="0D3B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0</c:v>
                </c:pt>
                <c:pt idx="2">
                  <c:v>0</c:v>
                </c:pt>
                <c:pt idx="3">
                  <c:v>604.4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4712.5</c:v>
                </c:pt>
                <c:pt idx="1">
                  <c:v>2266.8</c:v>
                </c:pt>
                <c:pt idx="2">
                  <c:v>22.1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FL</c:v>
                  </c:pt>
                  <c:pt idx="1">
                    <c:v>CA</c:v>
                  </c:pt>
                  <c:pt idx="2">
                    <c:v>PA</c:v>
                  </c:pt>
                  <c:pt idx="3">
                    <c:v>TX</c:v>
                  </c:pt>
                  <c:pt idx="4">
                    <c:v>GA</c:v>
                  </c:pt>
                  <c:pt idx="5">
                    <c:v>NJ</c:v>
                  </c:pt>
                  <c:pt idx="6">
                    <c:v>TN</c:v>
                  </c:pt>
                  <c:pt idx="7">
                    <c:v>IL</c:v>
                  </c:pt>
                  <c:pt idx="8">
                    <c:v>OH</c:v>
                  </c:pt>
                  <c:pt idx="9">
                    <c:v>MO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1151</c:v>
                </c:pt>
                <c:pt idx="1">
                  <c:v>1061.1</c:v>
                </c:pt>
                <c:pt idx="2">
                  <c:v>861.2</c:v>
                </c:pt>
                <c:pt idx="3">
                  <c:v>606.5</c:v>
                </c:pt>
                <c:pt idx="4">
                  <c:v>448.9</c:v>
                </c:pt>
                <c:pt idx="5">
                  <c:v>378.1</c:v>
                </c:pt>
                <c:pt idx="6">
                  <c:v>355.4</c:v>
                </c:pt>
                <c:pt idx="7">
                  <c:v>347.3</c:v>
                </c:pt>
                <c:pt idx="8">
                  <c:v>310.8</c:v>
                </c:pt>
                <c:pt idx="9">
                  <c:v>231.6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Margin</c:v>
                </c:pt>
                <c:pt idx="1">
                  <c:v>Medium Margin</c:v>
                </c:pt>
                <c:pt idx="2">
                  <c:v>Low Margin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79898</c:v>
                </c:pt>
                <c:pt idx="1">
                  <c:v>192460</c:v>
                </c:pt>
                <c:pt idx="2">
                  <c:v>286373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E894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94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94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&lt;10k</c:v>
                  </c:pt>
                  <c:pt idx="1">
                    <c:v>10k–30k</c:v>
                  </c:pt>
                  <c:pt idx="2">
                    <c:v>30k–60k</c:v>
                  </c:pt>
                  <c:pt idx="3">
                    <c:v>60k–100k</c:v>
                  </c:pt>
                  <c:pt idx="4">
                    <c:v>100k+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25758</c:v>
                </c:pt>
                <c:pt idx="1">
                  <c:v>125204</c:v>
                </c:pt>
                <c:pt idx="2">
                  <c:v>160151</c:v>
                </c:pt>
                <c:pt idx="3">
                  <c:v>110291</c:v>
                </c:pt>
                <c:pt idx="4">
                  <c:v>137327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Selling Price ($)</c:v>
                </c:pt>
              </c:strCache>
            </c:strRef>
          </c:tx>
          <c:spPr>
            <a:solidFill>
              <a:srgbClr val="0D3B66"/>
            </a:solidFill>
            <a:ln w="38100" cap="flat">
              <a:solidFill>
                <a:srgbClr val="0D3B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3B66"/>
              </a:solidFill>
              <a:ln w="9525" cap="flat">
                <a:solidFill>
                  <a:srgbClr val="0D3B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&lt;10k</c:v>
                  </c:pt>
                  <c:pt idx="1">
                    <c:v>10k–30k</c:v>
                  </c:pt>
                  <c:pt idx="2">
                    <c:v>30k–60k</c:v>
                  </c:pt>
                  <c:pt idx="3">
                    <c:v>60k–100k</c:v>
                  </c:pt>
                  <c:pt idx="4">
                    <c:v>100k+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22867</c:v>
                </c:pt>
                <c:pt idx="1">
                  <c:v>19978</c:v>
                </c:pt>
                <c:pt idx="2">
                  <c:v>16378</c:v>
                </c:pt>
                <c:pt idx="3">
                  <c:v>10866</c:v>
                </c:pt>
                <c:pt idx="4">
                  <c:v>5055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3B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Excellent</c:v>
                  </c:pt>
                  <c:pt idx="1">
                    <c:v>Good</c:v>
                  </c:pt>
                  <c:pt idx="2">
                    <c:v>Fair</c:v>
                  </c:pt>
                  <c:pt idx="3">
                    <c:v>Poor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3110</c:v>
                </c:pt>
                <c:pt idx="1">
                  <c:v>2253.7</c:v>
                </c:pt>
                <c:pt idx="2">
                  <c:v>1034.7</c:v>
                </c:pt>
                <c:pt idx="3">
                  <c:v>1207.4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65836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 · DATA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645920" cy="256032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529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</a:t>
            </a:r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for a New Head of Sales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5486400" cy="73152"/>
          </a:xfrm>
          <a:prstGeom prst="rect">
            <a:avLst/>
          </a:prstGeom>
          <a:solidFill>
            <a:srgbClr val="1A4F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9560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Refiloe Makunyane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2852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  ·  Bright Motors Case Study  ·  BrightLearn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097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5A623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558,731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69494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2926080"/>
            <a:ext cx="1371600" cy="100584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926080"/>
            <a:ext cx="13716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0358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$7.6B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08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41080" y="2926080"/>
            <a:ext cx="1371600" cy="100584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41080" y="2926080"/>
            <a:ext cx="13716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30358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6410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Makes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241280" y="2926080"/>
            <a:ext cx="1371600" cy="100584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41280" y="2926080"/>
            <a:ext cx="13716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30358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2412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brightlearn.co.za  ·  rofhiwa@brightlighttutorials.co.za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at a Glance — Bright Motors Car Sales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$7.6B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× Units Sold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558,731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transactions cleaned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076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807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Makes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across the dataset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0" y="11887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0" y="118872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96112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96112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coverage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639312"/>
            <a:ext cx="114300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all brands with $1.36B in total revenue — nearly 2× the next competitor.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and CA are the top two states, together generating over $2.2B in combined revenue.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30–60k mileage band has the highest volume (160,151 units) and strongest average prices.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performance is negative across most makes — a pricing strategy overhaul is critical.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·  Car Sales Analysis  ·  Refiloe Makunyane  · 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Car Make — Top 10 Brands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005840"/>
            <a:ext cx="3749040" cy="466344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00584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115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4447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Ford dominates with $1.36B — 2× nearest rival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2194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 ($723M) and Nissan ($633M) round out the top 3. BMW at $446M punches above its volume with premium pricing.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3383280"/>
            <a:ext cx="3566160" cy="36576"/>
          </a:xfrm>
          <a:prstGeom prst="rect">
            <a:avLst/>
          </a:prstGeom>
          <a:solidFill>
            <a:srgbClr val="1A4F82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3840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Ford, Chevrolet and Nissan inventory acquisition. Expand BMW and Mercedes-Benz stock — premium brands generate higher revenue per unit.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Sale Year / Quarter — Growth Over Time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051560"/>
            <a:ext cx="35661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21040" y="1051560"/>
            <a:ext cx="35661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0" y="1170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14813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 Q1 produced $4.71B — the single strongest quarter on record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24231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2014–2015. 2015 Q1 dwarfs all other periods, indicating a high-volume auction or bulk acquisition event. 2014 Q4 ($604M) and 2015 Q2 ($2.27B) confirm strong mid-year performance.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3931920"/>
            <a:ext cx="3383280" cy="36576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343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acquisition cycles to Q1 peaks. Investigate the 2015 Q1 spike to replicate the strategy that drove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State — Top 10 Markets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005840"/>
            <a:ext cx="3749040" cy="4663440"/>
          </a:xfrm>
          <a:prstGeom prst="rect">
            <a:avLst/>
          </a:prstGeom>
          <a:solidFill>
            <a:srgbClr val="3B0D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00584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444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 &amp; CA together generate $2.21B — 29% of total revenue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2286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($606M), Pennsylvania ($861M) and Georgia ($449M) are emerging powerhouse markets. 10 states account for over 70% of all revenue, showing strong geographic concentration.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3703320"/>
            <a:ext cx="3566160" cy="3657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413308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dealership network in FL, CA and TX. Investigate underperforming states to determine if low volume reflects market gap or unmet demand.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Tier Distribution — High / Medium / Low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43000"/>
            <a:ext cx="60350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143000"/>
            <a:ext cx="109728" cy="1298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6352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79,898 units  ·  ≥ 10% margin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606040"/>
            <a:ext cx="60350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606040"/>
            <a:ext cx="109728" cy="12984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63524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Margin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352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192,460 units  ·  0% – 9.99%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4069080"/>
            <a:ext cx="60350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4069080"/>
            <a:ext cx="109728" cy="12984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51.3%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63524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3524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286,373 units  ·  Below 0% — loss-making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5486400"/>
            <a:ext cx="6035040" cy="100584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97880" y="5559552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  — Over half of all deals are loss-making. Introduce a pricing floor policy based on MMR market values. Train sales staff on margin-aware negotiation. Set minimum margin targets per make.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Volume by Mileage Band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7772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" y="4526280"/>
          <a:ext cx="7772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1005840"/>
            <a:ext cx="3566160" cy="51206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321040" y="1005840"/>
            <a:ext cx="35661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INSIGHT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412480" y="14447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30–60k miles is the volume sweet spot with 160,151 units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1248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Low-mileage cars (&lt;10k) achieve the highest avg prices ($22,867) but lowest volumes. High-mileage cars (100k+) move in large quantities at very low prices ($5,055 avg), compressing margins.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412480" y="3840480"/>
            <a:ext cx="3383280" cy="36576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412480" y="425196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acquisition focus to 10k–60k mileage vehicles. They balance strong sales volume with pricing above the 100k+ floor. Limit high-mileage stock which suppresses average revenue.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&amp; 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Price by Vehicle Condition Tier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005840"/>
            <a:ext cx="374904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005840"/>
            <a:ext cx="3749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4447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Excellent condition vehicles generate $3.11B — the highest revenue tier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2331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condition surprisingly generates less than Poor — indicating fewer but higher-value Poor condition vehicles in the dataset. Excellent condition stock is the primary revenue driver.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3657600"/>
            <a:ext cx="3566160" cy="36576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RECOMMENDATION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4114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acquisition of Excellent and Good condition vehicles. Implement condition-based pricing tiers to maximise margin. Avoid high volumes of Fair/Poor condition stock which compress avg revenue.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  ·  Bright Motors Car Sales Analysis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Head of Sales — Bright Motors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577840" cy="1417320"/>
          </a:xfrm>
          <a:prstGeom prst="rect">
            <a:avLst/>
          </a:prstGeom>
          <a:solidFill>
            <a:srgbClr val="0A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435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Margin Leakage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of deals are loss-making. Enforce a minimum selling price floor based on MMR market values. Roll out margin-aware pricing training to all sales staff immediately.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577840" cy="1417320"/>
          </a:xfrm>
          <a:prstGeom prst="rect">
            <a:avLst/>
          </a:prstGeom>
          <a:solidFill>
            <a:srgbClr val="0A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4320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1635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2834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on Top Revenue Brands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Ford, Chevrolet, Nissan, Toyota and BMW account for $3.65B (48%) of revenue. Prioritise these brands in inventory acquisition and marketing spend.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5577840" cy="1417320"/>
          </a:xfrm>
          <a:prstGeom prst="rect">
            <a:avLst/>
          </a:prstGeom>
          <a:solidFill>
            <a:srgbClr val="0A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315968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389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44074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FL, CA and TX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754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states generate $2.82B combined (37% of total). Increase dealership presence, localised marketing, and regional partnerships in these markets.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170432"/>
            <a:ext cx="5577840" cy="1417320"/>
          </a:xfrm>
          <a:prstGeom prst="rect">
            <a:avLst/>
          </a:prstGeom>
          <a:solidFill>
            <a:srgbClr val="0A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1170432"/>
            <a:ext cx="64008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2435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9480" y="12618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Inventory by Mileage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160934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acquisition on 10k–60k mileage vehicles — highest volume AND strongest pricing. Reduce high-mileage (100k+) stock that drives down average revenue per unit.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5577840" cy="1417320"/>
          </a:xfrm>
          <a:prstGeom prst="rect">
            <a:avLst/>
          </a:prstGeom>
          <a:solidFill>
            <a:srgbClr val="0A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743200"/>
            <a:ext cx="64008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81635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69480" y="2834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Excellent Condition Stock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318211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condition vehicles generate $3.11B — 41% of total revenue. Set a condition grade minimum at acquisition auctions and invest in certified refurbishment programmes.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6565392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·  Car Sales Analysis  ·  Prepared by Refiloe Makunyane  ·  2025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 · DATA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Motors — Car Sales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011680" cy="118872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20040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$7.6B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06624" y="3200400"/>
            <a:ext cx="2011680" cy="118872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06624" y="320040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706624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558,731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06624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56048" y="3200400"/>
            <a:ext cx="2011680" cy="118872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6048" y="320040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Ford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5604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5472" y="3200400"/>
            <a:ext cx="2011680" cy="118872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05472" y="320040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472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FL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547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54896" y="3200400"/>
            <a:ext cx="2011680" cy="1188720"/>
          </a:xfrm>
          <a:prstGeom prst="rect">
            <a:avLst/>
          </a:prstGeom>
          <a:solidFill>
            <a:srgbClr val="0D3B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54896" y="320040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9454896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54896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Deals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4663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Refiloe Makunyane  ·  Junior Data Analyst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0292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 Data Analytics  ·  brightlearn.co.za  ·  rofhiwa@brightlighttutorials.co.za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5577840"/>
            <a:ext cx="5760720" cy="36576"/>
          </a:xfrm>
          <a:prstGeom prst="rect">
            <a:avLst/>
          </a:prstGeom>
          <a:solidFill>
            <a:srgbClr val="1A4F82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7150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Bright Car Sales  ·  558,731 transactions  ·  Analysis tool: Databricks SQL  ·  Visualisation: Microsoft Excel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Motors – Car Sales Analysis</dc:title>
  <dc:subject>PptxGenJS Presentation</dc:subject>
  <dc:creator>Refiloe Makunyane</dc:creator>
  <cp:lastModifiedBy>Refiloe Makunyane</cp:lastModifiedBy>
  <cp:revision>1</cp:revision>
  <dcterms:created xsi:type="dcterms:W3CDTF">2026-05-31T16:54:30Z</dcterms:created>
  <dcterms:modified xsi:type="dcterms:W3CDTF">2026-05-31T16:54:30Z</dcterms:modified>
</cp:coreProperties>
</file>